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 spc="150">
                <a:solidFill>
                  <a:srgbClr val="C01E2E"/>
                </a:solidFill>
                <a:latin typeface="Arial"/>
              </a:rPr>
              <a:t>SITEVISION</a:t>
            </a:r>
            <a:r>
              <a:rPr sz="1100" b="0">
                <a:solidFill>
                  <a:srgbClr val="6B6B6B"/>
                </a:solidFill>
                <a:latin typeface="Arial"/>
              </a:rPr>
              <a:t>   ·  by SiteSureLabs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6895" y="320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 spc="150">
                <a:solidFill>
                  <a:srgbClr val="6B6B6B"/>
                </a:solidFill>
                <a:latin typeface="Arial"/>
              </a:rPr>
              <a:t>INTRODUCTION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01E2E"/>
                </a:solidFill>
                <a:latin typeface="Arial"/>
              </a:rP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We rely on Constra &amp; Sitepace for 360° tours.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6B6B"/>
                </a:solidFill>
                <a:latin typeface="Arial"/>
              </a:rPr>
              <a:t>Two external vendors handle our virtual walkthroughs today — recurring cost, no control over the workflow,
and data locked outside our systems.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2880360"/>
            <a:ext cx="3520440" cy="0"/>
          </a:xfrm>
          <a:prstGeom prst="line">
            <a:avLst/>
          </a:prstGeom>
          <a:ln w="28575">
            <a:solidFill>
              <a:srgbClr val="C01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304495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3520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Bring 360° tours fully in-house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Drop dependency on Constra &amp; Sitepace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Own the workflow, data, and cost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2880360"/>
            <a:ext cx="3520440" cy="0"/>
          </a:xfrm>
          <a:prstGeom prst="line">
            <a:avLst/>
          </a:prstGeom>
          <a:ln w="28575">
            <a:solidFill>
              <a:srgbClr val="C01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80" y="304495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520440"/>
            <a:ext cx="35204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SiteVision replaces both vendors end-to-end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Built around our own floor plans, pins &amp; roles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Publish once — browse from any device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2880360"/>
            <a:ext cx="3520440" cy="0"/>
          </a:xfrm>
          <a:prstGeom prst="line">
            <a:avLst/>
          </a:prstGeom>
          <a:ln w="28575">
            <a:solidFill>
              <a:srgbClr val="C01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38160" y="304495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Current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520440"/>
            <a:ext cx="35204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Core workflow live end-to-end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Role-based access: Engineer/Manager/Admin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AI progress reports (PDF) added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A1A1A"/>
                </a:solidFill>
                <a:latin typeface="Arial"/>
              </a:rPr>
              <a:t>•  Refining panorama stitch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 spc="150">
                <a:solidFill>
                  <a:srgbClr val="C01E2E"/>
                </a:solidFill>
                <a:latin typeface="Arial"/>
              </a:rPr>
              <a:t>SITEVISION</a:t>
            </a:r>
            <a:r>
              <a:rPr sz="1100" b="0">
                <a:solidFill>
                  <a:srgbClr val="6B6B6B"/>
                </a:solidFill>
                <a:latin typeface="Arial"/>
              </a:rPr>
              <a:t>   ·  by SiteSureLabs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6895" y="320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 spc="150">
                <a:solidFill>
                  <a:srgbClr val="6B6B6B"/>
                </a:solidFill>
                <a:latin typeface="Arial"/>
              </a:rPr>
              <a:t>HOW IT WORKS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01E2E"/>
                </a:solidFill>
                <a:latin typeface="Arial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Plan → Pin → Capture → Publish →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6B6B"/>
                </a:solidFill>
                <a:latin typeface="Arial"/>
              </a:rPr>
              <a:t>One continuous pipeline, from a blank floor plan to a walkthrough anyone can open in a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22554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3154680"/>
            <a:ext cx="15147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Upload Floor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20725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Engineer uploads the plan for a tower &amp; floor.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659" y="2697480"/>
            <a:ext cx="22554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2712659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0171" y="3154680"/>
            <a:ext cx="15147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659" y="384048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Place Pins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659" y="4297680"/>
            <a:ext cx="20725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Mark capture points — sets the walkthrough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8118" y="2697480"/>
            <a:ext cx="22554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4968118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35630" y="3154680"/>
            <a:ext cx="15147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68118" y="384048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Capture Photos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8118" y="4297680"/>
            <a:ext cx="20725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360°/fisheye shots at each pin — mobile or upload.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577" y="2697480"/>
            <a:ext cx="22554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04</a:t>
            </a:r>
          </a:p>
        </p:txBody>
      </p:sp>
      <p:sp>
        <p:nvSpPr>
          <p:cNvPr id="24" name="Oval 23"/>
          <p:cNvSpPr/>
          <p:nvPr/>
        </p:nvSpPr>
        <p:spPr>
          <a:xfrm>
            <a:off x="7223577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089" y="3154680"/>
            <a:ext cx="15147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5E5E5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577" y="384048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Auto-Stitch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577" y="4297680"/>
            <a:ext cx="20725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Backend blends fisheye frames into one panorama.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9036" y="2697480"/>
            <a:ext cx="22554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01E2E"/>
                </a:solidFill>
                <a:latin typeface="Arial"/>
              </a:rPr>
              <a:t>05</a:t>
            </a:r>
          </a:p>
        </p:txBody>
      </p:sp>
      <p:sp>
        <p:nvSpPr>
          <p:cNvPr id="29" name="Oval 28"/>
          <p:cNvSpPr/>
          <p:nvPr/>
        </p:nvSpPr>
        <p:spPr>
          <a:xfrm>
            <a:off x="9479036" y="301752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>
                <a:solidFill>
                  <a:srgbClr val="C01E2E"/>
                </a:solidFill>
              </a:rPr>
              <a:t>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9036" y="3840480"/>
            <a:ext cx="20725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Arial"/>
              </a:rPr>
              <a:t>Publish &amp; Browse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4297680"/>
            <a:ext cx="20725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B"/>
                </a:solidFill>
                <a:latin typeface="Arial"/>
              </a:rPr>
              <a:t>Tour goes live — Pin 1 → Pin 2 → ... in 360°.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 b="1" spc="150">
                <a:solidFill>
                  <a:srgbClr val="C01E2E"/>
                </a:solidFill>
                <a:latin typeface="Arial"/>
              </a:rPr>
              <a:t>SITEVISION</a:t>
            </a:r>
            <a:r>
              <a:rPr sz="1100" b="0">
                <a:solidFill>
                  <a:srgbClr val="6B6B6B"/>
                </a:solidFill>
                <a:latin typeface="Arial"/>
              </a:rPr>
              <a:t>   ·  by SiteSureLabs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76895" y="320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 spc="150">
                <a:solidFill>
                  <a:srgbClr val="6B6B6B"/>
                </a:solidFill>
                <a:latin typeface="Arial"/>
              </a:rPr>
              <a:t>CURRENT EXPERIENCE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777240"/>
            <a:ext cx="11277295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51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C01E2E"/>
                </a:solidFill>
                <a:latin typeface="Arial"/>
              </a:rPr>
              <a:t>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What it looks like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88920"/>
            <a:ext cx="3520440" cy="2880360"/>
          </a:xfrm>
          <a:prstGeom prst="rect">
            <a:avLst/>
          </a:prstGeom>
          <a:solidFill>
            <a:srgbClr val="F6F6F6"/>
          </a:solidFill>
          <a:ln w="12700">
            <a:solidFill>
              <a:srgbClr val="B5B5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bIns="91440"/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New Capture</a:t>
            </a:r>
          </a:p>
          <a:p>
            <a:pPr algn="ctr">
              <a:spcBef>
                <a:spcPts val="6000"/>
              </a:spcBef>
            </a:pPr>
            <a:r>
              <a:rPr sz="1100" i="1">
                <a:solidFill>
                  <a:srgbClr val="B5B5B5"/>
                </a:solidFill>
                <a:latin typeface="Arial"/>
              </a:rPr>
              <a:t>[ screenshot placeholder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Capture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788920"/>
            <a:ext cx="3520440" cy="2880360"/>
          </a:xfrm>
          <a:prstGeom prst="rect">
            <a:avLst/>
          </a:prstGeom>
          <a:solidFill>
            <a:srgbClr val="F6F6F6"/>
          </a:solidFill>
          <a:ln w="12700">
            <a:solidFill>
              <a:srgbClr val="B5B5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bIns="91440"/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Virtual Tours</a:t>
            </a:r>
          </a:p>
          <a:p>
            <a:pPr algn="ctr">
              <a:spcBef>
                <a:spcPts val="6000"/>
              </a:spcBef>
            </a:pPr>
            <a:r>
              <a:rPr sz="1100" i="1">
                <a:solidFill>
                  <a:srgbClr val="B5B5B5"/>
                </a:solidFill>
                <a:latin typeface="Arial"/>
              </a:rPr>
              <a:t>[ screenshot placeholder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806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Virtual Tours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788920"/>
            <a:ext cx="3520440" cy="2880360"/>
          </a:xfrm>
          <a:prstGeom prst="rect">
            <a:avLst/>
          </a:prstGeom>
          <a:solidFill>
            <a:srgbClr val="F6F6F6"/>
          </a:solidFill>
          <a:ln w="12700">
            <a:solidFill>
              <a:srgbClr val="B5B5B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91440" bIns="91440"/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360° Viewer</a:t>
            </a:r>
          </a:p>
          <a:p>
            <a:pPr algn="ctr">
              <a:spcBef>
                <a:spcPts val="6000"/>
              </a:spcBef>
            </a:pPr>
            <a:r>
              <a:rPr sz="1100" i="1">
                <a:solidFill>
                  <a:srgbClr val="B5B5B5"/>
                </a:solidFill>
                <a:latin typeface="Arial"/>
              </a:rPr>
              <a:t>[ screenshot placeholder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580644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  <a:latin typeface="Arial"/>
              </a:rPr>
              <a:t>360° Virtual Tours Viewer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77295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200" b="1">
                <a:solidFill>
                  <a:srgbClr val="C01E2E"/>
                </a:solidFill>
                <a:latin typeface="Arial"/>
              </a:rPr>
              <a:t>ACCESS   </a:t>
            </a:r>
            <a:r>
              <a:rPr sz="1300">
                <a:solidFill>
                  <a:srgbClr val="1A1A1A"/>
                </a:solidFill>
                <a:latin typeface="Consolas"/>
              </a:rPr>
              <a:t>    http://172.20.7.22:5174/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