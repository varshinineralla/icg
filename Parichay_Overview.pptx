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4572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 spc="150">
                <a:solidFill>
                  <a:srgbClr val="C01E2E"/>
                </a:solidFill>
                <a:latin typeface="Arial"/>
              </a:rPr>
              <a:t>PARICHAY</a:t>
            </a:r>
            <a:r>
              <a:rPr sz="1100" b="0">
                <a:solidFill>
                  <a:srgbClr val="6B6B6B"/>
                </a:solidFill>
                <a:latin typeface="Arial"/>
              </a:rPr>
              <a:t>   ·  by SiteSureLabs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76895" y="3200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 spc="150">
                <a:solidFill>
                  <a:srgbClr val="6B6B6B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 spc="150">
                <a:solidFill>
                  <a:srgbClr val="C01E2E"/>
                </a:solidFill>
                <a:latin typeface="Arial"/>
              </a:rPr>
              <a:t>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 dirty="0">
                <a:solidFill>
                  <a:srgbClr val="1A1A1A"/>
                </a:solidFill>
                <a:latin typeface="Arial"/>
              </a:rPr>
              <a:t>Worker ID passes were manual, paper-based, and slow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B6B6B"/>
                </a:solidFill>
                <a:latin typeface="Arial"/>
              </a:rPr>
              <a:t>Site offices tracked contractor workers on paper registers and outsourced ID printing —
no central records, no photos on file, no way to verify who's actually on site.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2880360"/>
            <a:ext cx="3520440" cy="0"/>
          </a:xfrm>
          <a:prstGeom prst="line">
            <a:avLst/>
          </a:prstGeom>
          <a:ln w="28575">
            <a:solidFill>
              <a:srgbClr val="C01E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3044952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20440"/>
            <a:ext cx="3520440" cy="8335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250" dirty="0">
                <a:solidFill>
                  <a:srgbClr val="1A1A1A"/>
                </a:solidFill>
                <a:latin typeface="Arial"/>
              </a:rPr>
              <a:t>•  Digitize worker onboarding &amp; ID issuance</a:t>
            </a:r>
          </a:p>
          <a:p>
            <a:pPr>
              <a:spcAft>
                <a:spcPts val="1000"/>
              </a:spcAft>
            </a:pPr>
            <a:r>
              <a:rPr sz="1250" dirty="0">
                <a:solidFill>
                  <a:srgbClr val="1A1A1A"/>
                </a:solidFill>
                <a:latin typeface="Arial"/>
              </a:rPr>
              <a:t>•  Capture photo + verified details on site</a:t>
            </a:r>
          </a:p>
          <a:p>
            <a:pPr>
              <a:spcAft>
                <a:spcPts val="1000"/>
              </a:spcAft>
            </a:pPr>
            <a:r>
              <a:rPr sz="1250" dirty="0">
                <a:solidFill>
                  <a:srgbClr val="1A1A1A"/>
                </a:solidFill>
                <a:latin typeface="Arial"/>
              </a:rPr>
              <a:t>•  Give every site a live, searchable worker record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97680" y="2880360"/>
            <a:ext cx="3520440" cy="0"/>
          </a:xfrm>
          <a:prstGeom prst="line">
            <a:avLst/>
          </a:prstGeom>
          <a:ln w="28575">
            <a:solidFill>
              <a:srgbClr val="C01E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297680" y="3044952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79" y="3520440"/>
            <a:ext cx="3636085" cy="10259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250" dirty="0">
                <a:solidFill>
                  <a:srgbClr val="1A1A1A"/>
                </a:solidFill>
                <a:latin typeface="Arial"/>
              </a:rPr>
              <a:t>•  </a:t>
            </a:r>
            <a:r>
              <a:rPr sz="1250" dirty="0" err="1">
                <a:solidFill>
                  <a:srgbClr val="1A1A1A"/>
                </a:solidFill>
                <a:latin typeface="Arial"/>
              </a:rPr>
              <a:t>Parichay</a:t>
            </a:r>
            <a:r>
              <a:rPr sz="1250" dirty="0">
                <a:solidFill>
                  <a:srgbClr val="1A1A1A"/>
                </a:solidFill>
                <a:latin typeface="Arial"/>
              </a:rPr>
              <a:t>: browser-based operator + admin app</a:t>
            </a:r>
          </a:p>
          <a:p>
            <a:pPr>
              <a:spcAft>
                <a:spcPts val="1000"/>
              </a:spcAft>
            </a:pPr>
            <a:r>
              <a:rPr sz="1250" dirty="0">
                <a:solidFill>
                  <a:srgbClr val="1A1A1A"/>
                </a:solidFill>
                <a:latin typeface="Arial"/>
              </a:rPr>
              <a:t>•  3-step flow</a:t>
            </a:r>
            <a:r>
              <a:rPr lang="en-IN" sz="1250" dirty="0">
                <a:solidFill>
                  <a:srgbClr val="1A1A1A"/>
                </a:solidFill>
                <a:latin typeface="Arial"/>
              </a:rPr>
              <a:t>:</a:t>
            </a:r>
            <a:r>
              <a:rPr sz="1250" dirty="0">
                <a:solidFill>
                  <a:srgbClr val="1A1A1A"/>
                </a:solidFill>
                <a:latin typeface="Arial"/>
              </a:rPr>
              <a:t> Personal, Employment, Photo — to a </a:t>
            </a:r>
            <a:r>
              <a:rPr lang="en-IN" sz="1250" dirty="0">
                <a:solidFill>
                  <a:srgbClr val="1A1A1A"/>
                </a:solidFill>
                <a:latin typeface="Arial"/>
              </a:rPr>
              <a:t>              </a:t>
            </a:r>
            <a:r>
              <a:rPr sz="1250" dirty="0">
                <a:solidFill>
                  <a:srgbClr val="1A1A1A"/>
                </a:solidFill>
                <a:latin typeface="Arial"/>
              </a:rPr>
              <a:t>printable pass</a:t>
            </a:r>
          </a:p>
          <a:p>
            <a:pPr>
              <a:spcAft>
                <a:spcPts val="1000"/>
              </a:spcAft>
            </a:pPr>
            <a:r>
              <a:rPr sz="1250" dirty="0">
                <a:solidFill>
                  <a:srgbClr val="1A1A1A"/>
                </a:solidFill>
                <a:latin typeface="Arial"/>
              </a:rPr>
              <a:t>•  Centralized admin dashboard across all sites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38160" y="2880360"/>
            <a:ext cx="3520440" cy="0"/>
          </a:xfrm>
          <a:prstGeom prst="line">
            <a:avLst/>
          </a:prstGeom>
          <a:ln w="28575">
            <a:solidFill>
              <a:srgbClr val="C01E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138160" y="3044952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Current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3520440"/>
            <a:ext cx="3964193" cy="11541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250" dirty="0">
                <a:solidFill>
                  <a:srgbClr val="1A1A1A"/>
                </a:solidFill>
                <a:latin typeface="Arial"/>
              </a:rPr>
              <a:t>•  Live at </a:t>
            </a:r>
            <a:r>
              <a:rPr sz="1250" dirty="0" err="1">
                <a:solidFill>
                  <a:srgbClr val="1A1A1A"/>
                </a:solidFill>
                <a:latin typeface="Arial"/>
              </a:rPr>
              <a:t>Udyan</a:t>
            </a:r>
            <a:r>
              <a:rPr sz="1250" dirty="0">
                <a:solidFill>
                  <a:srgbClr val="1A1A1A"/>
                </a:solidFill>
                <a:latin typeface="Arial"/>
              </a:rPr>
              <a:t>, </a:t>
            </a:r>
            <a:r>
              <a:rPr sz="1250" dirty="0" err="1">
                <a:solidFill>
                  <a:srgbClr val="1A1A1A"/>
                </a:solidFill>
                <a:latin typeface="Arial"/>
              </a:rPr>
              <a:t>Vyoma</a:t>
            </a:r>
            <a:r>
              <a:rPr sz="1250" dirty="0">
                <a:solidFill>
                  <a:srgbClr val="1A1A1A"/>
                </a:solidFill>
                <a:latin typeface="Arial"/>
              </a:rPr>
              <a:t>, </a:t>
            </a:r>
            <a:r>
              <a:rPr sz="1250" dirty="0" err="1">
                <a:solidFill>
                  <a:srgbClr val="1A1A1A"/>
                </a:solidFill>
                <a:latin typeface="Arial"/>
              </a:rPr>
              <a:t>Nishada</a:t>
            </a:r>
            <a:r>
              <a:rPr sz="1250" dirty="0">
                <a:solidFill>
                  <a:srgbClr val="1A1A1A"/>
                </a:solidFill>
                <a:latin typeface="Arial"/>
              </a:rPr>
              <a:t>, </a:t>
            </a:r>
            <a:r>
              <a:rPr sz="1250" dirty="0" err="1">
                <a:solidFill>
                  <a:srgbClr val="1A1A1A"/>
                </a:solidFill>
                <a:latin typeface="Arial"/>
              </a:rPr>
              <a:t>Vipina</a:t>
            </a:r>
            <a:r>
              <a:rPr sz="1250" dirty="0">
                <a:solidFill>
                  <a:srgbClr val="1A1A1A"/>
                </a:solidFill>
                <a:latin typeface="Arial"/>
              </a:rPr>
              <a:t>, TTPL</a:t>
            </a:r>
          </a:p>
          <a:p>
            <a:pPr>
              <a:spcAft>
                <a:spcPts val="1000"/>
              </a:spcAft>
            </a:pPr>
            <a:r>
              <a:rPr sz="1250" dirty="0">
                <a:solidFill>
                  <a:srgbClr val="1A1A1A"/>
                </a:solidFill>
                <a:latin typeface="Arial"/>
              </a:rPr>
              <a:t>•  Role-based logins: Site Operator (CSO) &amp;</a:t>
            </a:r>
            <a:r>
              <a:rPr lang="en-IN" sz="1250" dirty="0">
                <a:solidFill>
                  <a:srgbClr val="1A1A1A"/>
                </a:solidFill>
                <a:latin typeface="Arial"/>
              </a:rPr>
              <a:t> </a:t>
            </a:r>
            <a:r>
              <a:rPr sz="1250" dirty="0">
                <a:solidFill>
                  <a:srgbClr val="1A1A1A"/>
                </a:solidFill>
                <a:latin typeface="Arial"/>
              </a:rPr>
              <a:t>Admin</a:t>
            </a:r>
          </a:p>
          <a:p>
            <a:pPr>
              <a:spcAft>
                <a:spcPts val="1000"/>
              </a:spcAft>
            </a:pPr>
            <a:r>
              <a:rPr sz="1250" dirty="0">
                <a:solidFill>
                  <a:srgbClr val="1A1A1A"/>
                </a:solidFill>
                <a:latin typeface="Arial"/>
              </a:rPr>
              <a:t>•  Batch printing, Excel/CSV export, analytics dashboard</a:t>
            </a:r>
          </a:p>
          <a:p>
            <a:pPr>
              <a:spcAft>
                <a:spcPts val="1000"/>
              </a:spcAft>
            </a:pPr>
            <a:r>
              <a:rPr sz="1250" dirty="0">
                <a:solidFill>
                  <a:srgbClr val="1A1A1A"/>
                </a:solidFill>
                <a:latin typeface="Arial"/>
              </a:rPr>
              <a:t>•  Configurable data retention 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4572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 spc="150" dirty="0">
                <a:solidFill>
                  <a:srgbClr val="C01E2E"/>
                </a:solidFill>
                <a:latin typeface="Arial"/>
              </a:rPr>
              <a:t>PARICHAY</a:t>
            </a:r>
            <a:r>
              <a:rPr sz="1100" b="0" dirty="0">
                <a:solidFill>
                  <a:srgbClr val="6B6B6B"/>
                </a:solidFill>
                <a:latin typeface="Arial"/>
              </a:rPr>
              <a:t>   ·  by </a:t>
            </a:r>
            <a:r>
              <a:rPr sz="1100" b="0" dirty="0" err="1">
                <a:solidFill>
                  <a:srgbClr val="6B6B6B"/>
                </a:solidFill>
                <a:latin typeface="Arial"/>
              </a:rPr>
              <a:t>SiteSureLabs</a:t>
            </a:r>
            <a:endParaRPr sz="1100" b="0" dirty="0">
              <a:solidFill>
                <a:srgbClr val="6B6B6B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076895" y="3200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 spc="150">
                <a:solidFill>
                  <a:srgbClr val="6B6B6B"/>
                </a:solidFill>
                <a:latin typeface="Arial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 spc="150">
                <a:solidFill>
                  <a:srgbClr val="C01E2E"/>
                </a:solidFill>
                <a:latin typeface="Arial"/>
              </a:rPr>
              <a:t>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 dirty="0">
                <a:solidFill>
                  <a:srgbClr val="1A1A1A"/>
                </a:solidFill>
                <a:latin typeface="Arial"/>
              </a:rPr>
              <a:t>Login → Details → Photo → Generate → 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B6B6B"/>
                </a:solidFill>
                <a:latin typeface="Arial"/>
              </a:rPr>
              <a:t>One continuous flow at the site gate — from operator login to a printed, verified worker ID.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22554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C01E2E"/>
                </a:solidFill>
                <a:latin typeface="Arial"/>
              </a:rPr>
              <a:t>01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01752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>
                <a:solidFill>
                  <a:srgbClr val="C01E2E"/>
                </a:solidFill>
              </a:rPr>
              <a:t>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3154680"/>
            <a:ext cx="15147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0" i="0">
                <a:solidFill>
                  <a:srgbClr val="E5E5E5"/>
                </a:solidFill>
                <a:latin typeface="Arial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20725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Operator 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97680"/>
            <a:ext cx="207257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6B"/>
                </a:solidFill>
                <a:latin typeface="Arial"/>
              </a:rPr>
              <a:t>CSO logs in per site; session is scoped to that site only.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2659" y="2697480"/>
            <a:ext cx="22554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C01E2E"/>
                </a:solidFill>
                <a:latin typeface="Arial"/>
              </a:rPr>
              <a:t>02</a:t>
            </a:r>
          </a:p>
        </p:txBody>
      </p:sp>
      <p:sp>
        <p:nvSpPr>
          <p:cNvPr id="14" name="Oval 13"/>
          <p:cNvSpPr/>
          <p:nvPr/>
        </p:nvSpPr>
        <p:spPr>
          <a:xfrm>
            <a:off x="2712659" y="301752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>
                <a:solidFill>
                  <a:srgbClr val="C01E2E"/>
                </a:solidFill>
              </a:rPr>
              <a:t>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0171" y="3154680"/>
            <a:ext cx="15147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0" i="0">
                <a:solidFill>
                  <a:srgbClr val="E5E5E5"/>
                </a:solidFill>
                <a:latin typeface="Arial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2659" y="3840480"/>
            <a:ext cx="20725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Personal &amp; Work Details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2659" y="4297680"/>
            <a:ext cx="207257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6B"/>
                </a:solidFill>
                <a:latin typeface="Arial"/>
              </a:rPr>
              <a:t>Name, Aadhar, DOB, address, contractor, designation, validity.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68118" y="2697480"/>
            <a:ext cx="22554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C01E2E"/>
                </a:solidFill>
                <a:latin typeface="Arial"/>
              </a:rPr>
              <a:t>03</a:t>
            </a:r>
          </a:p>
        </p:txBody>
      </p:sp>
      <p:sp>
        <p:nvSpPr>
          <p:cNvPr id="19" name="Oval 18"/>
          <p:cNvSpPr/>
          <p:nvPr/>
        </p:nvSpPr>
        <p:spPr>
          <a:xfrm>
            <a:off x="4968118" y="301752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>
                <a:solidFill>
                  <a:srgbClr val="C01E2E"/>
                </a:solidFill>
              </a:rPr>
              <a:t>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35630" y="3154680"/>
            <a:ext cx="15147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0" i="0">
                <a:solidFill>
                  <a:srgbClr val="E5E5E5"/>
                </a:solidFill>
                <a:latin typeface="Arial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68118" y="3840480"/>
            <a:ext cx="20725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 dirty="0">
                <a:solidFill>
                  <a:srgbClr val="1A1A1A"/>
                </a:solidFill>
                <a:latin typeface="Arial"/>
              </a:rPr>
              <a:t>Photo Capture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8118" y="4297680"/>
            <a:ext cx="207257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6B"/>
                </a:solidFill>
                <a:latin typeface="Arial"/>
              </a:rPr>
              <a:t>Live webcam capture, natural or studio-white background.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577" y="2697480"/>
            <a:ext cx="22554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C01E2E"/>
                </a:solidFill>
                <a:latin typeface="Arial"/>
              </a:rPr>
              <a:t>04</a:t>
            </a:r>
          </a:p>
        </p:txBody>
      </p:sp>
      <p:sp>
        <p:nvSpPr>
          <p:cNvPr id="24" name="Oval 23"/>
          <p:cNvSpPr/>
          <p:nvPr/>
        </p:nvSpPr>
        <p:spPr>
          <a:xfrm>
            <a:off x="7223577" y="301752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>
                <a:solidFill>
                  <a:srgbClr val="C01E2E"/>
                </a:solidFill>
              </a:rPr>
              <a:t>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089" y="3154680"/>
            <a:ext cx="15147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0" i="0">
                <a:solidFill>
                  <a:srgbClr val="E5E5E5"/>
                </a:solidFill>
                <a:latin typeface="Arial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577" y="3840480"/>
            <a:ext cx="20725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 dirty="0">
                <a:solidFill>
                  <a:srgbClr val="1A1A1A"/>
                </a:solidFill>
                <a:latin typeface="Arial"/>
              </a:rPr>
              <a:t>Generate Pass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577" y="4297680"/>
            <a:ext cx="207257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6B"/>
                </a:solidFill>
                <a:latin typeface="Arial"/>
              </a:rPr>
              <a:t>Duplicate check by Aadhar, then pass is rendered to canvas.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79036" y="2697480"/>
            <a:ext cx="22554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C01E2E"/>
                </a:solidFill>
                <a:latin typeface="Arial"/>
              </a:rPr>
              <a:t>05</a:t>
            </a:r>
          </a:p>
        </p:txBody>
      </p:sp>
      <p:sp>
        <p:nvSpPr>
          <p:cNvPr id="29" name="Oval 28"/>
          <p:cNvSpPr/>
          <p:nvPr/>
        </p:nvSpPr>
        <p:spPr>
          <a:xfrm>
            <a:off x="9479036" y="301752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>
                <a:solidFill>
                  <a:srgbClr val="C01E2E"/>
                </a:solidFill>
              </a:rPr>
              <a:t>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9036" y="3840480"/>
            <a:ext cx="20725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 dirty="0">
                <a:solidFill>
                  <a:srgbClr val="1A1A1A"/>
                </a:solidFill>
                <a:latin typeface="Arial"/>
              </a:rPr>
              <a:t>Print / Batch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9036" y="4297680"/>
            <a:ext cx="207257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6B"/>
                </a:solidFill>
                <a:latin typeface="Arial"/>
              </a:rPr>
              <a:t>Download, print single, or queue &amp; print a full A4 batch.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4572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 spc="150">
                <a:solidFill>
                  <a:srgbClr val="C01E2E"/>
                </a:solidFill>
                <a:latin typeface="Arial"/>
              </a:rPr>
              <a:t>PARICHAY</a:t>
            </a:r>
            <a:r>
              <a:rPr sz="1100" b="0">
                <a:solidFill>
                  <a:srgbClr val="6B6B6B"/>
                </a:solidFill>
                <a:latin typeface="Arial"/>
              </a:rPr>
              <a:t>   ·  by SiteSureLabs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76895" y="3200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 spc="150">
                <a:solidFill>
                  <a:srgbClr val="6B6B6B"/>
                </a:solidFill>
                <a:latin typeface="Arial"/>
              </a:rPr>
              <a:t>CURRENT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 spc="150">
                <a:solidFill>
                  <a:srgbClr val="C01E2E"/>
                </a:solidFill>
                <a:latin typeface="Arial"/>
              </a:rPr>
              <a:t>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 dirty="0">
                <a:solidFill>
                  <a:srgbClr val="1A1A1A"/>
                </a:solidFill>
                <a:latin typeface="Arial"/>
              </a:rPr>
              <a:t>What it looks like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46238"/>
            <a:ext cx="3520440" cy="2880360"/>
          </a:xfrm>
          <a:prstGeom prst="rect">
            <a:avLst/>
          </a:prstGeom>
          <a:solidFill>
            <a:srgbClr val="F6F6F6"/>
          </a:solidFill>
          <a:ln w="12700">
            <a:solidFill>
              <a:srgbClr val="B5B5B5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t"/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Operator App</a:t>
            </a:r>
          </a:p>
          <a:p>
            <a:pPr algn="ctr">
              <a:spcBef>
                <a:spcPts val="6000"/>
              </a:spcBef>
            </a:pPr>
            <a:r>
              <a:rPr sz="1100" i="1">
                <a:solidFill>
                  <a:srgbClr val="B5B5B5"/>
                </a:solidFill>
                <a:latin typeface="Arial"/>
              </a:rPr>
              <a:t>[ screenshot placeholder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63758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Arial"/>
              </a:rPr>
              <a:t>Pass Generation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946238"/>
            <a:ext cx="3520440" cy="2880360"/>
          </a:xfrm>
          <a:prstGeom prst="rect">
            <a:avLst/>
          </a:prstGeom>
          <a:solidFill>
            <a:srgbClr val="F6F6F6"/>
          </a:solidFill>
          <a:ln w="12700">
            <a:solidFill>
              <a:srgbClr val="B5B5B5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t"/>
          <a:lstStyle/>
          <a:p>
            <a:pPr algn="l"/>
            <a:r>
              <a:rPr sz="1100" b="1" dirty="0">
                <a:solidFill>
                  <a:srgbClr val="6B6B6B"/>
                </a:solidFill>
                <a:latin typeface="Arial"/>
              </a:rPr>
              <a:t>Records Table</a:t>
            </a:r>
          </a:p>
          <a:p>
            <a:pPr algn="ctr">
              <a:spcBef>
                <a:spcPts val="6000"/>
              </a:spcBef>
            </a:pPr>
            <a:r>
              <a:rPr sz="1100" i="1" dirty="0">
                <a:solidFill>
                  <a:srgbClr val="B5B5B5"/>
                </a:solidFill>
                <a:latin typeface="Arial"/>
              </a:rPr>
              <a:t>[ screenshot placeholder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4963758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Arial"/>
              </a:rPr>
              <a:t>Site Records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946238"/>
            <a:ext cx="3520440" cy="2880360"/>
          </a:xfrm>
          <a:prstGeom prst="rect">
            <a:avLst/>
          </a:prstGeom>
          <a:solidFill>
            <a:srgbClr val="F6F6F6"/>
          </a:solidFill>
          <a:ln w="12700">
            <a:solidFill>
              <a:srgbClr val="B5B5B5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t"/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Analytics</a:t>
            </a:r>
          </a:p>
          <a:p>
            <a:pPr algn="ctr">
              <a:spcBef>
                <a:spcPts val="6000"/>
              </a:spcBef>
            </a:pPr>
            <a:r>
              <a:rPr sz="1100" i="1">
                <a:solidFill>
                  <a:srgbClr val="B5B5B5"/>
                </a:solidFill>
                <a:latin typeface="Arial"/>
              </a:rPr>
              <a:t>[ screenshot placeholder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963758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Arial"/>
              </a:rPr>
              <a:t>Admin Dashboard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512398"/>
            <a:ext cx="11277295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200" b="1" dirty="0">
                <a:solidFill>
                  <a:srgbClr val="C01E2E"/>
                </a:solidFill>
                <a:latin typeface="Arial"/>
              </a:rPr>
              <a:t>ACCESS</a:t>
            </a:r>
            <a:r>
              <a:rPr lang="en-IN" sz="1200" b="1" dirty="0">
                <a:solidFill>
                  <a:srgbClr val="C01E2E"/>
                </a:solidFill>
                <a:latin typeface="Arial"/>
              </a:rPr>
              <a:t>: https://icg-owg0.onrender.com/</a:t>
            </a:r>
            <a:endParaRPr sz="1300" dirty="0">
              <a:solidFill>
                <a:srgbClr val="1A1A1A"/>
              </a:solidFill>
              <a:latin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Arial"/>
              </a:rPr>
              <a:t>3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602C4C9-2DD5-4E2A-BE7A-8095995DE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611" y="1985031"/>
            <a:ext cx="3474720" cy="279584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699B4AD-9E18-44DD-85F5-3A59A14F4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4216" y="1998062"/>
            <a:ext cx="3486454" cy="278281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416E7BD-C1B1-4F97-ADAF-AD8FEA0AC4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46" y="1998062"/>
            <a:ext cx="3426004" cy="27799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319</Words>
  <Application>Microsoft Office PowerPoint</Application>
  <PresentationFormat>Widescreen</PresentationFormat>
  <Paragraphs>64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V K A Srivarshini Neralla</cp:lastModifiedBy>
  <cp:revision>9</cp:revision>
  <dcterms:created xsi:type="dcterms:W3CDTF">2013-01-27T09:14:16Z</dcterms:created>
  <dcterms:modified xsi:type="dcterms:W3CDTF">2026-07-17T11:14:14Z</dcterms:modified>
  <cp:category/>
</cp:coreProperties>
</file>